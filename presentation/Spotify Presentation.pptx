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88825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6675" y="2404534"/>
            <a:ext cx="7764913" cy="1646302"/>
          </a:xfrm>
        </p:spPr>
        <p:txBody>
          <a:bodyPr anchor="b">
            <a:noAutofit/>
          </a:bodyPr>
          <a:lstStyle>
            <a:lvl1pPr algn="r">
              <a:defRPr sz="5398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6675" y="4050834"/>
            <a:ext cx="7764913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4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900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2700868"/>
            <a:ext cx="8594429" cy="1826581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860400"/>
          </a:xfrm>
        </p:spPr>
        <p:txBody>
          <a:bodyPr anchor="t"/>
          <a:lstStyle>
            <a:lvl1pPr marL="0" indent="0" algn="l">
              <a:buNone/>
              <a:defRPr sz="19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715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158" y="2160589"/>
            <a:ext cx="418294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8645" y="2160590"/>
            <a:ext cx="418294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09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570" y="2160983"/>
            <a:ext cx="4184533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570" y="2737246"/>
            <a:ext cx="418453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7058" y="2160983"/>
            <a:ext cx="4184528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7059" y="2737246"/>
            <a:ext cx="418452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560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609600"/>
            <a:ext cx="8594429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836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38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1498604"/>
            <a:ext cx="3853524" cy="1278466"/>
          </a:xfrm>
        </p:spPr>
        <p:txBody>
          <a:bodyPr anchor="b">
            <a:normAutofit/>
          </a:bodyPr>
          <a:lstStyle>
            <a:lvl1pPr>
              <a:defRPr sz="19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9222" y="514925"/>
            <a:ext cx="4512366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158" y="2777069"/>
            <a:ext cx="3853524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8" indent="0">
              <a:buNone/>
              <a:defRPr sz="1000"/>
            </a:lvl4pPr>
            <a:lvl5pPr marL="1827703" indent="0">
              <a:buNone/>
              <a:defRPr sz="1000"/>
            </a:lvl5pPr>
            <a:lvl6pPr marL="2284628" indent="0">
              <a:buNone/>
              <a:defRPr sz="1000"/>
            </a:lvl6pPr>
            <a:lvl7pPr marL="2741554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809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4800600"/>
            <a:ext cx="8594428" cy="566738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158" y="609600"/>
            <a:ext cx="8594429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158" y="5367338"/>
            <a:ext cx="8594428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43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609600"/>
            <a:ext cx="8594429" cy="3403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470400"/>
            <a:ext cx="8594429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000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092" y="609600"/>
            <a:ext cx="809202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5783" y="3632200"/>
            <a:ext cx="7222643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470400"/>
            <a:ext cx="8594429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729" y="790378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0695" y="288655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799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724358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1931988"/>
            <a:ext cx="8594429" cy="2595460"/>
          </a:xfrm>
        </p:spPr>
        <p:txBody>
          <a:bodyPr anchor="b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0232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092" y="609600"/>
            <a:ext cx="809202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156" y="4013200"/>
            <a:ext cx="8594430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729" y="790378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0695" y="288655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448283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1" y="609600"/>
            <a:ext cx="858596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156" y="4013200"/>
            <a:ext cx="8594430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accent1"/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8942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894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5599" y="609600"/>
            <a:ext cx="130440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159" y="609600"/>
            <a:ext cx="7058311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099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88825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158" y="609600"/>
            <a:ext cx="8594429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8" y="2160590"/>
            <a:ext cx="8594429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3257" y="6041363"/>
            <a:ext cx="9117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158" y="6041363"/>
            <a:ext cx="62959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88426" y="6041363"/>
            <a:ext cx="68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353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</p:sldLayoutIdLst>
  <p:txStyles>
    <p:titleStyle>
      <a:lvl1pPr algn="l" defTabSz="457063" rtl="0" eaLnBrk="1" latinLnBrk="0" hangingPunct="1">
        <a:spcBef>
          <a:spcPct val="0"/>
        </a:spcBef>
        <a:buNone/>
        <a:defRPr sz="3599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797" indent="-342797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7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657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599720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6783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Spotify Product Dissection &amp; PostgreSQL Schema Design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2400"/>
            </a:pPr>
            <a:r>
              <a:rPr dirty="0"/>
              <a:t>Spotify Database Design</a:t>
            </a:r>
            <a:br>
              <a:rPr dirty="0"/>
            </a:br>
            <a:br>
              <a:rPr dirty="0"/>
            </a:br>
            <a:r>
              <a:rPr dirty="0"/>
              <a:t>Prepared by: Swapnil Nicolson Dadel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400"/>
            </a:pPr>
            <a:r>
              <a:t>• Industry Overview</a:t>
            </a:r>
            <a:br/>
            <a:r>
              <a:t>• Why Spotify</a:t>
            </a:r>
            <a:br/>
            <a:r>
              <a:t>• Product Dissection</a:t>
            </a:r>
            <a:br/>
            <a:r>
              <a:t>• Core Features</a:t>
            </a:r>
            <a:br/>
            <a:r>
              <a:t>• Problems &amp; Solutions</a:t>
            </a:r>
            <a:br/>
            <a:r>
              <a:t>• Database Schema</a:t>
            </a:r>
            <a:br/>
            <a:r>
              <a:t>• ER Diagram</a:t>
            </a:r>
            <a:br/>
            <a:r>
              <a:t>• SQL Analysis</a:t>
            </a:r>
            <a:br/>
            <a:r>
              <a:t>•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Growth of music streaming</a:t>
            </a:r>
            <a:br/>
            <a:r>
              <a:t>• Shift from downloads to cloud streaming</a:t>
            </a:r>
            <a:br/>
            <a:r>
              <a:t>• Data-driven personalization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Spotify?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115464" cy="4525963"/>
          </a:xfrm>
        </p:spPr>
        <p:txBody>
          <a:bodyPr/>
          <a:lstStyle/>
          <a:p>
            <a:pPr>
              <a:defRPr sz="2400"/>
            </a:pPr>
            <a:r>
              <a:rPr dirty="0"/>
              <a:t>• Founded in 2006</a:t>
            </a:r>
            <a:br>
              <a:rPr dirty="0"/>
            </a:br>
            <a:r>
              <a:rPr dirty="0"/>
              <a:t>• Global streaming leader</a:t>
            </a:r>
            <a:br>
              <a:rPr dirty="0"/>
            </a:br>
            <a:r>
              <a:rPr dirty="0"/>
              <a:t>• Free &amp; Premium plans</a:t>
            </a:r>
            <a:br>
              <a:rPr dirty="0"/>
            </a:br>
            <a:r>
              <a:rPr dirty="0"/>
              <a:t>• Millions of users worldwide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673EDB-D554-63C0-7034-74F5935D9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12" y="1245107"/>
            <a:ext cx="5468873" cy="45259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Dissection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Music streaming</a:t>
            </a:r>
            <a:br/>
            <a:r>
              <a:t>• Podcasts</a:t>
            </a:r>
            <a:br/>
            <a:r>
              <a:t>• Personalized recommendations</a:t>
            </a:r>
            <a:br/>
            <a:r>
              <a:t>• Playlists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Music Streaming</a:t>
            </a:r>
            <a:br/>
            <a:r>
              <a:t>• Playlist Management</a:t>
            </a:r>
            <a:br/>
            <a:r>
              <a:t>• Recommendations</a:t>
            </a:r>
            <a:br/>
            <a:r>
              <a:t>• Subscription Plans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Access to music</a:t>
            </a:r>
            <a:br/>
            <a:r>
              <a:t>• Music discovery</a:t>
            </a:r>
            <a:br/>
            <a:r>
              <a:t>• Playlist organization</a:t>
            </a:r>
            <a:br/>
            <a:r>
              <a:t>• Personalized listening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Spotify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Cloud streaming</a:t>
            </a:r>
            <a:br/>
            <a:r>
              <a:t>• AI recommendations</a:t>
            </a:r>
            <a:br/>
            <a:r>
              <a:t>• Smart playlists</a:t>
            </a:r>
            <a:br/>
            <a:r>
              <a:t>• Premium features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PostgreSQL?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Relational database</a:t>
            </a:r>
            <a:br/>
            <a:r>
              <a:t>• ACID properties</a:t>
            </a:r>
            <a:br/>
            <a:r>
              <a:t>• Constraints</a:t>
            </a:r>
            <a:br/>
            <a:r>
              <a:t>• Indexes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 sz="2400"/>
            </a:pPr>
            <a:r>
              <a:t>Users</a:t>
            </a:r>
            <a:br/>
            <a:r>
              <a:t>Artists</a:t>
            </a:r>
            <a:br/>
            <a:r>
              <a:t>Albums</a:t>
            </a:r>
            <a:br/>
            <a:r>
              <a:t>Genres</a:t>
            </a:r>
            <a:br/>
            <a:r>
              <a:t>Tracks</a:t>
            </a:r>
            <a:br/>
            <a:r>
              <a:t>Playlists</a:t>
            </a:r>
            <a:br/>
            <a:r>
              <a:t>Playlist_Tracks</a:t>
            </a:r>
            <a:br/>
            <a:r>
              <a:t>Listening_History</a:t>
            </a:r>
            <a:br/>
            <a:r>
              <a:t>Subscription_Plans</a:t>
            </a:r>
            <a:br/>
            <a:r>
              <a:t>Subscriptions</a:t>
            </a:r>
            <a:br/>
            <a:r>
              <a:t>Recommendations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Schema Design Rationale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3NF</a:t>
            </a:r>
            <a:br/>
            <a:r>
              <a:t>• Reduced redundancy</a:t>
            </a:r>
            <a:br/>
            <a:r>
              <a:t>• PK &amp; FK</a:t>
            </a:r>
            <a:br/>
            <a:r>
              <a:t>• Data integrity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528" y="212786"/>
            <a:ext cx="3174521" cy="546340"/>
          </a:xfrm>
        </p:spPr>
        <p:txBody>
          <a:bodyPr>
            <a:normAutofit fontScale="90000"/>
          </a:bodyPr>
          <a:lstStyle/>
          <a:p>
            <a:endParaRPr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564A32-30DF-6A72-EBB8-299FFDF004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743" y="0"/>
            <a:ext cx="12086249" cy="69373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Dataset → Staging Table → EDA → Business Insights → Normalized Schema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Data Familiarization</a:t>
            </a:r>
            <a:br/>
            <a:r>
              <a:t>• Data Quality</a:t>
            </a:r>
            <a:br/>
            <a:r>
              <a:t>• Genre Analysis</a:t>
            </a:r>
            <a:br/>
            <a:r>
              <a:t>• Audio Features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Popular artists</a:t>
            </a:r>
            <a:br/>
            <a:r>
              <a:t>• Popular genres</a:t>
            </a:r>
            <a:br/>
            <a:r>
              <a:t>• Duration analysis</a:t>
            </a:r>
            <a:br/>
            <a:r>
              <a:t>• Explicit songs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PostgreSQL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CTE</a:t>
            </a:r>
            <a:br/>
            <a:r>
              <a:t>• Window Functions</a:t>
            </a:r>
            <a:br/>
            <a:r>
              <a:t>• ROW_NUMBER</a:t>
            </a:r>
            <a:br/>
            <a:r>
              <a:t>• NTILE</a:t>
            </a:r>
            <a:br/>
            <a:r>
              <a:t>• Indexes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Schema Design</a:t>
            </a:r>
            <a:br/>
            <a:r>
              <a:t>• Normalization</a:t>
            </a:r>
            <a:br/>
            <a:r>
              <a:t>• Query Optimization</a:t>
            </a:r>
            <a:br/>
            <a:r>
              <a:t>• Analytical SQL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Completed product dissection</a:t>
            </a:r>
            <a:br/>
            <a:r>
              <a:t>• Designed PostgreSQL schema</a:t>
            </a:r>
            <a:br/>
            <a:r>
              <a:t>• Generated insights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609600"/>
            <a:ext cx="9433000" cy="3094008"/>
          </a:xfrm>
        </p:spPr>
        <p:txBody>
          <a:bodyPr>
            <a:noAutofit/>
          </a:bodyPr>
          <a:lstStyle/>
          <a:p>
            <a:r>
              <a:rPr sz="9600" dirty="0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400"/>
            </a:pPr>
            <a:r>
              <a:rPr lang="en-IN" dirty="0"/>
              <a:t> 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112</TotalTime>
  <Words>325</Words>
  <Application>Microsoft Office PowerPoint</Application>
  <PresentationFormat>Custom</PresentationFormat>
  <Paragraphs>36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Trebuchet MS</vt:lpstr>
      <vt:lpstr>Wingdings 3</vt:lpstr>
      <vt:lpstr>Facet</vt:lpstr>
      <vt:lpstr>Spotify Product Dissection &amp; PostgreSQL Schema Design</vt:lpstr>
      <vt:lpstr>Agenda</vt:lpstr>
      <vt:lpstr>Industry Overview</vt:lpstr>
      <vt:lpstr>Why Spotify?</vt:lpstr>
      <vt:lpstr>Product Dissection</vt:lpstr>
      <vt:lpstr>Core Features</vt:lpstr>
      <vt:lpstr>Real-World Problems</vt:lpstr>
      <vt:lpstr>Spotify Solutions</vt:lpstr>
      <vt:lpstr>Why PostgreSQL?</vt:lpstr>
      <vt:lpstr>Database Schema</vt:lpstr>
      <vt:lpstr>Schema Design Rationale</vt:lpstr>
      <vt:lpstr>PowerPoint Presentation</vt:lpstr>
      <vt:lpstr>SQL Workflow</vt:lpstr>
      <vt:lpstr>EDA</vt:lpstr>
      <vt:lpstr>Business Insights</vt:lpstr>
      <vt:lpstr>Advanced PostgreSQL</vt:lpstr>
      <vt:lpstr>Key Learnings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Swapnil Nicolson Dadel</cp:lastModifiedBy>
  <cp:revision>2</cp:revision>
  <dcterms:created xsi:type="dcterms:W3CDTF">2013-01-27T09:14:16Z</dcterms:created>
  <dcterms:modified xsi:type="dcterms:W3CDTF">2026-07-07T01:27:39Z</dcterms:modified>
  <cp:category/>
</cp:coreProperties>
</file>